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622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営業DX推進計画 2027年度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SFA定着と商談化率の改善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4038600"/>
            <a:ext cx="10972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09600" y="42672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2026年10月　営業企画部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目次</a:t>
            </a:r>
          </a:p>
        </p:txBody>
      </p:sp>
      <p:sp>
        <p:nvSpPr>
          <p:cNvPr id="3" name="TextBox 2">
            <a:hlinkClick action="ppaction://hlinksldjump" r:id="rId2"/>
          </p:cNvPr>
          <p:cNvSpPr txBox="1"/>
          <p:nvPr/>
        </p:nvSpPr>
        <p:spPr>
          <a:xfrm>
            <a:off x="609600" y="1371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01  エグゼクティブサマリ</a:t>
            </a:r>
          </a:p>
        </p:txBody>
      </p:sp>
      <p:sp>
        <p:nvSpPr>
          <p:cNvPr id="4" name="TextBox 3">
            <a:hlinkClick action="ppaction://hlinksldjump" r:id="rId3"/>
          </p:cNvPr>
          <p:cNvSpPr txBox="1"/>
          <p:nvPr/>
        </p:nvSpPr>
        <p:spPr>
          <a:xfrm>
            <a:off x="609600" y="18288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 結論と根拠</a:t>
            </a:r>
          </a:p>
        </p:txBody>
      </p:sp>
      <p:sp>
        <p:nvSpPr>
          <p:cNvPr id="5" name="TextBox 4">
            <a:hlinkClick action="ppaction://hlinksldjump" r:id="rId4"/>
          </p:cNvPr>
          <p:cNvSpPr txBox="1"/>
          <p:nvPr/>
        </p:nvSpPr>
        <p:spPr>
          <a:xfrm>
            <a:off x="609600" y="22860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03  KPIダッシュボード</a:t>
            </a:r>
          </a:p>
        </p:txBody>
      </p:sp>
      <p:sp>
        <p:nvSpPr>
          <p:cNvPr id="6" name="TextBox 5">
            <a:hlinkClick action="ppaction://hlinksldjump" r:id="rId5"/>
          </p:cNvPr>
          <p:cNvSpPr txBox="1"/>
          <p:nvPr/>
        </p:nvSpPr>
        <p:spPr>
          <a:xfrm>
            <a:off x="609600" y="27432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04  シナリオ比較</a:t>
            </a:r>
          </a:p>
        </p:txBody>
      </p:sp>
      <p:sp>
        <p:nvSpPr>
          <p:cNvPr id="7" name="TextBox 6">
            <a:hlinkClick action="ppaction://hlinksldjump" r:id="rId6"/>
          </p:cNvPr>
          <p:cNvSpPr txBox="1"/>
          <p:nvPr/>
        </p:nvSpPr>
        <p:spPr>
          <a:xfrm>
            <a:off x="609600" y="32004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05  選択肢比較</a:t>
            </a:r>
          </a:p>
        </p:txBody>
      </p:sp>
      <p:sp>
        <p:nvSpPr>
          <p:cNvPr id="8" name="TextBox 7">
            <a:hlinkClick action="ppaction://hlinksldjump" r:id="rId7"/>
          </p:cNvPr>
          <p:cNvSpPr txBox="1"/>
          <p:nvPr/>
        </p:nvSpPr>
        <p:spPr>
          <a:xfrm>
            <a:off x="609600" y="36576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06  プラン比較</a:t>
            </a:r>
          </a:p>
        </p:txBody>
      </p:sp>
      <p:sp>
        <p:nvSpPr>
          <p:cNvPr id="9" name="TextBox 8">
            <a:hlinkClick action="ppaction://hlinksldjump" r:id="rId8"/>
          </p:cNvPr>
          <p:cNvSpPr txBox="1"/>
          <p:nvPr/>
        </p:nvSpPr>
        <p:spPr>
          <a:xfrm>
            <a:off x="609600" y="41148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07  推進ステップ</a:t>
            </a:r>
          </a:p>
        </p:txBody>
      </p:sp>
      <p:sp>
        <p:nvSpPr>
          <p:cNvPr id="10" name="TextBox 9">
            <a:hlinkClick action="ppaction://hlinksldjump" r:id="rId9"/>
          </p:cNvPr>
          <p:cNvSpPr txBox="1"/>
          <p:nvPr/>
        </p:nvSpPr>
        <p:spPr>
          <a:xfrm>
            <a:off x="609600" y="45720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08  データフロー</a:t>
            </a:r>
          </a:p>
        </p:txBody>
      </p:sp>
      <p:sp>
        <p:nvSpPr>
          <p:cNvPr id="11" name="TextBox 10">
            <a:hlinkClick action="ppaction://hlinksldjump" r:id="rId10"/>
          </p:cNvPr>
          <p:cNvSpPr txBox="1"/>
          <p:nvPr/>
        </p:nvSpPr>
        <p:spPr>
          <a:xfrm>
            <a:off x="609600" y="50292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u="sng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09  KPIドライバー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エグゼクティブサマリ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524000"/>
            <a:ext cx="381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524000"/>
            <a:ext cx="64008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商談化率は前期比で2pt低下し、主因は初回接触から提案までの日数の長期化。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67000"/>
            <a:ext cx="381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667000"/>
            <a:ext cx="64008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SFAの入力率が62%にとどまり、案件の停滞を早期に検知できていない。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0"/>
            <a:ext cx="381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810000"/>
            <a:ext cx="64008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入力項目を12から5に絞り、日次の停滞アラートを導入する。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953000"/>
            <a:ext cx="381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953000"/>
            <a:ext cx="64008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投資額1,200万円、12か月で回収できる見込み。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1524000"/>
            <a:ext cx="0" cy="45720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848600" y="1524000"/>
            <a:ext cx="3733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6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−2pt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286000"/>
            <a:ext cx="373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商談化率（前期比）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8600" y="2971800"/>
            <a:ext cx="3733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848600" y="3124200"/>
            <a:ext cx="3733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6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3886200"/>
            <a:ext cx="373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SFA入力率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48600" y="4572000"/>
            <a:ext cx="3733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848600" y="4724400"/>
            <a:ext cx="3733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6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12か月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8600" y="5486400"/>
            <a:ext cx="3733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投資回収期間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結論と根拠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SFAの入力項目を5つに絞り、停滞アラートを導入すべきである。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2514600"/>
            <a:ext cx="10972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09600" y="2819400"/>
            <a:ext cx="3429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根拠1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24200"/>
            <a:ext cx="3429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入力負荷が定着の壁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10000"/>
            <a:ext cx="3429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入力に1件あたり平均9分かかり、外出の多い担当者ほど入力率が低い。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19400"/>
            <a:ext cx="3429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根拠2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24200"/>
            <a:ext cx="3429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停滞の検知が遅い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810000"/>
            <a:ext cx="3429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提案前で14日以上止まる案件が全体の31%あり、失注の6割を占める。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2819400"/>
            <a:ext cx="3429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根拠3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0" y="3124200"/>
            <a:ext cx="3429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小さく始められる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200" y="3810000"/>
            <a:ext cx="3429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既存SFAの設定変更で対応でき、追加ライセンスは不要。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KPIダッシュボード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906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2026年度上期実績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1447800"/>
            <a:ext cx="2514600" cy="1828800"/>
          </a:xfrm>
          <a:prstGeom prst="roundRect">
            <a:avLst>
              <a:gd name="adj" fmla="val 41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38200" y="16764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売上高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981200"/>
            <a:ext cx="2057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4.2億円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7432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前期比 ＋8%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47800"/>
            <a:ext cx="2514600" cy="1828800"/>
          </a:xfrm>
          <a:prstGeom prst="roundRect">
            <a:avLst>
              <a:gd name="adj" fmla="val 41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16764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商談化率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81200"/>
            <a:ext cx="2057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CE0000"/>
                </a:solidFill>
                <a:latin typeface="Noto Sans JP"/>
                <a:ea typeface="Noto Sans JP"/>
                <a:cs typeface="Noto Sans JP"/>
              </a:rPr>
              <a:t>前期比 −2pt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5400" y="167640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CE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05400" y="1676400"/>
            <a:ext cx="609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悪化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0" y="1447800"/>
            <a:ext cx="2514600" cy="1828800"/>
          </a:xfrm>
          <a:prstGeom prst="roundRect">
            <a:avLst>
              <a:gd name="adj" fmla="val 41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77000" y="16764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SFA入力率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1981200"/>
            <a:ext cx="2057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27432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前期比 ＋5pt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7800" y="1447800"/>
            <a:ext cx="2514600" cy="1828800"/>
          </a:xfrm>
          <a:prstGeom prst="roundRect">
            <a:avLst>
              <a:gd name="adj" fmla="val 41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96400" y="16764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平均商談日数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1981200"/>
            <a:ext cx="2057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41日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2743200"/>
            <a:ext cx="2057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前期比 ±0日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581400"/>
            <a:ext cx="109728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・商談化率のみ悪化。提案前の停滞案件が増えたことが主因。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・SFA入力率は改善傾向だが、目標の85%には届いていない。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シナリオ比較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447800"/>
          <a:ext cx="10972800" cy="2286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観点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悲観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0017C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基準【採用】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楽観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予測値（件）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75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125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前提となる入力率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65%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80%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90%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必要な追加工数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月20時間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月40時間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主なリスク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現場の定着遅れ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アラート過多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運用負荷の増加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u="none">
                <a:solidFill>
                  <a:srgbClr val="595959"/>
                </a:solidFill>
                <a:latin typeface="Noto Sans JP"/>
                <a:ea typeface="Noto Sans JP"/>
                <a:cs typeface="Noto Sans JP"/>
              </a:rPr>
              <a:t>出典：2026年度上期 SFAデータ（社内）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選択肢比較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447800"/>
          <a:ext cx="10972800" cy="2286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514600"/>
                <a:gridCol w="2819400"/>
                <a:gridCol w="2819400"/>
                <a:gridCol w="281940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評価観点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0017C1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A：現行SFAの設定変更【推奨】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B：入力支援ツール追加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C：SFA刷新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初期費用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300万円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800万円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3,500万円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導入期間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2か月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4か月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12か月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入力時間の削減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約50%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約70%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約70%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1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現場の学習負荷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小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1200" b="0" u="none">
                          <a:solidFill>
                            <a:srgbClr val="1A1A1A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大</a:t>
                      </a:r>
                    </a:p>
                  </a:txBody>
                  <a:tcPr anchor="t" marL="152400" marR="1524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プラン比較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447800"/>
            <a:ext cx="3429000" cy="4343400"/>
          </a:xfrm>
          <a:prstGeom prst="roundRect">
            <a:avLst>
              <a:gd name="adj" fmla="val 2222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38200" y="1981200"/>
            <a:ext cx="2971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ライト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438400"/>
            <a:ext cx="2971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月5万円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38200" y="3124200"/>
            <a:ext cx="2971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38200" y="3352800"/>
            <a:ext cx="2971800" cy="2209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・10ユーザーまで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・標準レポート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・メールサポート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47800"/>
            <a:ext cx="3429000" cy="4343400"/>
          </a:xfrm>
          <a:prstGeom prst="roundRect">
            <a:avLst>
              <a:gd name="adj" fmla="val 2222"/>
            </a:avLst>
          </a:prstGeom>
          <a:solidFill>
            <a:srgbClr val="E8F1FE"/>
          </a:solidFill>
          <a:ln w="9525">
            <a:solidFill>
              <a:srgbClr val="76767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572000" y="167640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0017C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676400"/>
            <a:ext cx="609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推奨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81200"/>
            <a:ext cx="2971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スタンダード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38400"/>
            <a:ext cx="2971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月12万円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3124200"/>
            <a:ext cx="2971800" cy="0"/>
          </a:xfrm>
          <a:prstGeom prst="line">
            <a:avLst/>
          </a:prstGeom>
          <a:ln w="9525">
            <a:solidFill>
              <a:srgbClr val="76767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572000" y="3352800"/>
            <a:ext cx="2971800" cy="2209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・50ユーザーまで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・停滞アラート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・API連携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・電話サポート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1447800"/>
            <a:ext cx="3429000" cy="4343400"/>
          </a:xfrm>
          <a:prstGeom prst="roundRect">
            <a:avLst>
              <a:gd name="adj" fmla="val 2222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05800" y="1981200"/>
            <a:ext cx="2971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エンタープライズ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2438400"/>
            <a:ext cx="2971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個別見積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05800" y="3124200"/>
            <a:ext cx="2971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305800" y="3352800"/>
            <a:ext cx="2971800" cy="2209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・ユーザー無制限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・専任担当</a:t>
            </a:r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・SLA保証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推進ステップ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38200" y="1752600"/>
            <a:ext cx="105156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4" name="Rounded Rectangle 3"/>
          <p:cNvSpPr/>
          <p:nvPr/>
        </p:nvSpPr>
        <p:spPr>
          <a:xfrm>
            <a:off x="609600" y="152400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1524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5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09800"/>
            <a:ext cx="2514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現状把握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95600"/>
            <a:ext cx="2514600" cy="30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入力率・停滞案件を部門別に集計する。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2400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29000" y="1524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5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209800"/>
            <a:ext cx="2514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項目の削減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95600"/>
            <a:ext cx="2514600" cy="30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入力項目を12から5に絞る。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400" y="152400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48400" y="1524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5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2209800"/>
            <a:ext cx="2514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アラート設定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2895600"/>
            <a:ext cx="2514600" cy="30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14日停滞で担当と上長に通知する。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800" y="152400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0017C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67800" y="1524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5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7800" y="2209800"/>
            <a:ext cx="2514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定着支援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800" y="2895600"/>
            <a:ext cx="2514600" cy="30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週次で入力率を共有し、未入力者を個別支援する。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データフロー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3429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入力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600" y="1752600"/>
            <a:ext cx="3429000" cy="0"/>
          </a:xfrm>
          <a:prstGeom prst="line">
            <a:avLst/>
          </a:prstGeom>
          <a:ln w="19050">
            <a:solidFill>
              <a:srgbClr val="1A1A1A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343400" y="1371600"/>
            <a:ext cx="3429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処理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43400" y="1752600"/>
            <a:ext cx="3429000" cy="0"/>
          </a:xfrm>
          <a:prstGeom prst="line">
            <a:avLst/>
          </a:prstGeom>
          <a:ln w="19050">
            <a:solidFill>
              <a:srgbClr val="1A1A1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077200" y="1371600"/>
            <a:ext cx="3429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出力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77200" y="1752600"/>
            <a:ext cx="3429000" cy="0"/>
          </a:xfrm>
          <a:prstGeom prst="line">
            <a:avLst/>
          </a:prstGeom>
          <a:ln w="19050">
            <a:solidFill>
              <a:srgbClr val="1A1A1A"/>
            </a:solidFill>
          </a:ln>
        </p:spPr>
      </p:cxnSp>
      <p:sp>
        <p:nvSpPr>
          <p:cNvPr id="9" name="Rounded Rectangle 8"/>
          <p:cNvSpPr/>
          <p:nvPr/>
        </p:nvSpPr>
        <p:spPr>
          <a:xfrm>
            <a:off x="609600" y="1981200"/>
            <a:ext cx="3429000" cy="6096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2000" y="1981200"/>
            <a:ext cx="31242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名刺管理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2743200"/>
            <a:ext cx="3429000" cy="6096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2000" y="2743200"/>
            <a:ext cx="31242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Webフォーム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3505200"/>
            <a:ext cx="3429000" cy="6096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2000" y="3505200"/>
            <a:ext cx="31242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電話・訪問記録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1981200"/>
            <a:ext cx="3429000" cy="6096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0" y="1981200"/>
            <a:ext cx="31242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停滞アラート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743200"/>
            <a:ext cx="3429000" cy="6096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1242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週次ダッシュボード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3505200"/>
            <a:ext cx="3429000" cy="6096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0" y="3505200"/>
            <a:ext cx="31242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経営レポート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981200"/>
            <a:ext cx="3429000" cy="2133600"/>
          </a:xfrm>
          <a:prstGeom prst="roundRect">
            <a:avLst>
              <a:gd name="adj" fmla="val 3571"/>
            </a:avLst>
          </a:prstGeom>
          <a:solidFill>
            <a:srgbClr val="E8F1FE"/>
          </a:solidFill>
          <a:ln w="9525">
            <a:solidFill>
              <a:srgbClr val="76767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0" y="2209800"/>
            <a:ext cx="2971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SFA（処理基盤）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667000"/>
            <a:ext cx="297180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・案件の自動登録</a:t>
            </a:r>
          </a:p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・停滞の検知</a:t>
            </a:r>
          </a:p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・スコアリング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KPIドライバー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2362200"/>
            <a:ext cx="2286000" cy="762000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1A1A1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2362200"/>
            <a:ext cx="19812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売上高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5600" y="27432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200400" y="1905000"/>
            <a:ext cx="0" cy="8382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200400" y="19050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8" name="Rounded Rectangle 7"/>
          <p:cNvSpPr/>
          <p:nvPr/>
        </p:nvSpPr>
        <p:spPr>
          <a:xfrm>
            <a:off x="3505200" y="1676400"/>
            <a:ext cx="3352800" cy="457200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0" y="1676400"/>
            <a:ext cx="243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商談数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19050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162800" y="1676400"/>
            <a:ext cx="0" cy="2286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162800" y="16764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7467600" y="1447800"/>
            <a:ext cx="4114800" cy="457200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20000" y="14478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Web流入の増加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0" y="19050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162800" y="1905000"/>
            <a:ext cx="0" cy="3048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7162800" y="22098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18" name="Rounded Rectangle 17"/>
          <p:cNvSpPr/>
          <p:nvPr/>
        </p:nvSpPr>
        <p:spPr>
          <a:xfrm>
            <a:off x="7467600" y="1981200"/>
            <a:ext cx="4114800" cy="457200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0000" y="19812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紹介制度の拡充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95600" y="27432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3200400" y="2743200"/>
            <a:ext cx="0" cy="3048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3200400" y="30480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23" name="Rounded Rectangle 22"/>
          <p:cNvSpPr/>
          <p:nvPr/>
        </p:nvSpPr>
        <p:spPr>
          <a:xfrm>
            <a:off x="3505200" y="2819400"/>
            <a:ext cx="3352800" cy="457200"/>
          </a:xfrm>
          <a:prstGeom prst="roundRect">
            <a:avLst>
              <a:gd name="adj" fmla="val 16666"/>
            </a:avLst>
          </a:prstGeom>
          <a:solidFill>
            <a:srgbClr val="E8F1FE"/>
          </a:solidFill>
          <a:ln w="9525">
            <a:solidFill>
              <a:srgbClr val="76767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57600" y="2819400"/>
            <a:ext cx="243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商談化率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289560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0017C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96000" y="2895600"/>
            <a:ext cx="609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重点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0" y="30480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162800" y="2819400"/>
            <a:ext cx="0" cy="2286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7162800" y="28194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30" name="Rounded Rectangle 29"/>
          <p:cNvSpPr/>
          <p:nvPr/>
        </p:nvSpPr>
        <p:spPr>
          <a:xfrm>
            <a:off x="7467600" y="2590800"/>
            <a:ext cx="4114800" cy="457200"/>
          </a:xfrm>
          <a:prstGeom prst="roundRect">
            <a:avLst>
              <a:gd name="adj" fmla="val 16666"/>
            </a:avLst>
          </a:prstGeom>
          <a:solidFill>
            <a:srgbClr val="E8F1FE"/>
          </a:solidFill>
          <a:ln w="9525">
            <a:solidFill>
              <a:srgbClr val="76767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20000" y="25908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停滞アラート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20400" y="2667000"/>
            <a:ext cx="609600" cy="304800"/>
          </a:xfrm>
          <a:prstGeom prst="roundRect">
            <a:avLst>
              <a:gd name="adj" fmla="val 25000"/>
            </a:avLst>
          </a:prstGeom>
          <a:solidFill>
            <a:srgbClr val="0017C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820400" y="2667000"/>
            <a:ext cx="609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1" u="none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重点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0" y="30480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7162800" y="3048000"/>
            <a:ext cx="0" cy="3048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7162800" y="33528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37" name="Rounded Rectangle 36"/>
          <p:cNvSpPr/>
          <p:nvPr/>
        </p:nvSpPr>
        <p:spPr>
          <a:xfrm>
            <a:off x="7467600" y="3124200"/>
            <a:ext cx="4114800" cy="457200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20000" y="31242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提案テンプレート整備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895600" y="27432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3200400" y="2743200"/>
            <a:ext cx="0" cy="121920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0" y="39624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42" name="Rounded Rectangle 41"/>
          <p:cNvSpPr/>
          <p:nvPr/>
        </p:nvSpPr>
        <p:spPr>
          <a:xfrm>
            <a:off x="3505200" y="3733800"/>
            <a:ext cx="3352800" cy="457200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657600" y="3733800"/>
            <a:ext cx="243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平均単価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58000" y="39624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7162800" y="3962400"/>
            <a:ext cx="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7162800" y="3962400"/>
            <a:ext cx="304800" cy="0"/>
          </a:xfrm>
          <a:prstGeom prst="line">
            <a:avLst/>
          </a:prstGeom>
          <a:ln w="9525">
            <a:solidFill>
              <a:srgbClr val="949494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7467600" y="3733800"/>
            <a:ext cx="4114800" cy="457200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94949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20000" y="37338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u="none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上位プランの提案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